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libri"/>
        <a:ea typeface="Calibri"/>
        <a:cs typeface="Calibri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1D8"/>
          </a:solidFill>
        </a:fill>
      </a:tcStyle>
    </a:wholeTbl>
    <a:band2H>
      <a:tcTxStyle/>
      <a:tcStyle>
        <a:tcBdr/>
        <a:fill>
          <a:solidFill>
            <a:srgbClr val="E7E9EC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BD3CB"/>
          </a:solidFill>
        </a:fill>
      </a:tcStyle>
    </a:wholeTbl>
    <a:band2H>
      <a:tcTxStyle/>
      <a:tcStyle>
        <a:tcBdr/>
        <a:fill>
          <a:solidFill>
            <a:srgbClr val="E7EA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E1CC"/>
          </a:solidFill>
        </a:fill>
      </a:tcStyle>
    </a:wholeTbl>
    <a:band2H>
      <a:tcTxStyle/>
      <a:tcStyle>
        <a:tcBdr/>
        <a:fill>
          <a:solidFill>
            <a:srgbClr val="E8F0E7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1344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Helvetica Neue"/>
      </a:defRPr>
    </a:lvl1pPr>
    <a:lvl2pPr indent="228600" latinLnBrk="0">
      <a:defRPr sz="1200">
        <a:latin typeface="+mj-lt"/>
        <a:ea typeface="+mj-ea"/>
        <a:cs typeface="+mj-cs"/>
        <a:sym typeface="Helvetica Neue"/>
      </a:defRPr>
    </a:lvl2pPr>
    <a:lvl3pPr indent="457200" latinLnBrk="0">
      <a:defRPr sz="1200">
        <a:latin typeface="+mj-lt"/>
        <a:ea typeface="+mj-ea"/>
        <a:cs typeface="+mj-cs"/>
        <a:sym typeface="Helvetica Neue"/>
      </a:defRPr>
    </a:lvl3pPr>
    <a:lvl4pPr indent="685800" latinLnBrk="0">
      <a:defRPr sz="1200">
        <a:latin typeface="+mj-lt"/>
        <a:ea typeface="+mj-ea"/>
        <a:cs typeface="+mj-cs"/>
        <a:sym typeface="Helvetica Neue"/>
      </a:defRPr>
    </a:lvl4pPr>
    <a:lvl5pPr indent="914400" latinLnBrk="0">
      <a:defRPr sz="1200">
        <a:latin typeface="+mj-lt"/>
        <a:ea typeface="+mj-ea"/>
        <a:cs typeface="+mj-cs"/>
        <a:sym typeface="Helvetica Neue"/>
      </a:defRPr>
    </a:lvl5pPr>
    <a:lvl6pPr indent="1143000" latinLnBrk="0">
      <a:defRPr sz="1200">
        <a:latin typeface="+mj-lt"/>
        <a:ea typeface="+mj-ea"/>
        <a:cs typeface="+mj-cs"/>
        <a:sym typeface="Helvetica Neue"/>
      </a:defRPr>
    </a:lvl6pPr>
    <a:lvl7pPr indent="1371600" latinLnBrk="0">
      <a:defRPr sz="1200">
        <a:latin typeface="+mj-lt"/>
        <a:ea typeface="+mj-ea"/>
        <a:cs typeface="+mj-cs"/>
        <a:sym typeface="Helvetica Neue"/>
      </a:defRPr>
    </a:lvl7pPr>
    <a:lvl8pPr indent="1600200" latinLnBrk="0">
      <a:defRPr sz="1200">
        <a:latin typeface="+mj-lt"/>
        <a:ea typeface="+mj-ea"/>
        <a:cs typeface="+mj-cs"/>
        <a:sym typeface="Helvetica Neue"/>
      </a:defRPr>
    </a:lvl8pPr>
    <a:lvl9pPr indent="1828800" latinLnBrk="0">
      <a:defRPr sz="1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Open by naming the capstone problem and the cloud product objective. Keep the title slide uncluttered and clearly identify the individual presenter.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Do not start with technology. First make the need clear, then connect it to cloud-enabled scale, reach, or reliability.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3" name="Shape 9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should explain the concept map as a reasoning artifact, not as decoration.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7" name="Shape 12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Walk from user request to API, compute, data, storage, analytics, monitoring, and security boundary.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6" name="Shape 18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Ask the student to defend provider responsibility and student responsibility for the selected service models.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5" name="Shape 2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Big data analytics is optional, but a thoughtful data path is expected.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4" name="Shape 25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If AI is not required, students can present a Python automation or analytics module instead.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Shape 28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83" name="Shape 28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slide is where students show engineering judgment instead of simply listing services.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Evidence should be specific and inspectable, not a generic list of tools.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43" name="Shape 34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 storyboard helps the faculty see whether the cloud architecture is connected to actual use.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Shape 377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8" name="Shape 378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Students can use this as the self-check slide before presenting the conclusion.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Shape 40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07" name="Shape 40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ending should synthesize learning, not just say thank you.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14400" y="1844675"/>
            <a:ext cx="10363200" cy="20415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828800" y="3886200"/>
            <a:ext cx="8534400" cy="2971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4" name="CO1 AT3 | 0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01</a:t>
            </a:r>
          </a:p>
        </p:txBody>
      </p:sp>
      <p:sp>
        <p:nvSpPr>
          <p:cNvPr id="2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" name="CSA15 Cloud Computing and Big Data Analytics"/>
          <p:cNvSpPr txBox="1"/>
          <p:nvPr/>
        </p:nvSpPr>
        <p:spPr>
          <a:xfrm>
            <a:off x="552450" y="896778"/>
            <a:ext cx="697230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2600" b="1">
                <a:solidFill>
                  <a:srgbClr val="1F4E79"/>
                </a:solidFill>
              </a:defRPr>
            </a:lvl1pPr>
          </a:lstStyle>
          <a:p>
            <a:r>
              <a:rPr dirty="0"/>
              <a:t>CSA15</a:t>
            </a:r>
            <a:r>
              <a:rPr lang="en-US" dirty="0"/>
              <a:t>17</a:t>
            </a:r>
            <a:r>
              <a:rPr dirty="0"/>
              <a:t> Cloud Computing and Big Data Analytics</a:t>
            </a:r>
          </a:p>
        </p:txBody>
      </p:sp>
      <p:sp>
        <p:nvSpPr>
          <p:cNvPr id="27" name="Capstone Cloud Technical Presentation"/>
          <p:cNvSpPr txBox="1"/>
          <p:nvPr/>
        </p:nvSpPr>
        <p:spPr>
          <a:xfrm>
            <a:off x="769619" y="2152650"/>
            <a:ext cx="667131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200" b="1">
                <a:solidFill>
                  <a:srgbClr val="2F6690"/>
                </a:solidFill>
              </a:defRPr>
            </a:lvl1pPr>
          </a:lstStyle>
          <a:p>
            <a:r>
              <a:t>FoodTrace: Cloud Supply Chain Tracker</a:t>
            </a:r>
          </a:p>
        </p:txBody>
      </p:sp>
      <p:sp>
        <p:nvSpPr>
          <p:cNvPr id="28" name="Individual Student Presentation Deck"/>
          <p:cNvSpPr txBox="1"/>
          <p:nvPr/>
        </p:nvSpPr>
        <p:spPr>
          <a:xfrm>
            <a:off x="769619" y="2762250"/>
            <a:ext cx="5814062" cy="3104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4155"/>
                </a:solidFill>
              </a:defRPr>
            </a:lvl1pPr>
          </a:lstStyle>
          <a:p>
            <a:r>
              <a:t>With QR Provenance and Spoilage Prediction</a:t>
            </a:r>
          </a:p>
        </p:txBody>
      </p:sp>
      <p:sp>
        <p:nvSpPr>
          <p:cNvPr id="29" name="Presenter Details-panel"/>
          <p:cNvSpPr/>
          <p:nvPr/>
        </p:nvSpPr>
        <p:spPr>
          <a:xfrm>
            <a:off x="7524750" y="1143000"/>
            <a:ext cx="3714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Presenter Details-bar"/>
          <p:cNvSpPr/>
          <p:nvPr/>
        </p:nvSpPr>
        <p:spPr>
          <a:xfrm>
            <a:off x="7524750" y="1143000"/>
            <a:ext cx="37147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Presenter Details"/>
          <p:cNvSpPr txBox="1"/>
          <p:nvPr/>
        </p:nvSpPr>
        <p:spPr>
          <a:xfrm>
            <a:off x="7741919" y="1333500"/>
            <a:ext cx="32804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Presenter Details</a:t>
            </a:r>
          </a:p>
        </p:txBody>
      </p:sp>
      <p:sp>
        <p:nvSpPr>
          <p:cNvPr id="32" name="Student Name:…"/>
          <p:cNvSpPr txBox="1"/>
          <p:nvPr/>
        </p:nvSpPr>
        <p:spPr>
          <a:xfrm>
            <a:off x="7741919" y="1733550"/>
            <a:ext cx="3280412" cy="1692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Student Name: Krishna Gupta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Register Number: </a:t>
            </a:r>
            <a:r>
              <a:rPr lang="en-US" dirty="0"/>
              <a:t>192524062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Class / Section / Slot: </a:t>
            </a:r>
            <a:r>
              <a:rPr lang="en-US" dirty="0"/>
              <a:t>C</a:t>
            </a:r>
            <a:endParaRPr dirty="0"/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Capstone Title: </a:t>
            </a:r>
            <a:r>
              <a:rPr dirty="0" err="1"/>
              <a:t>FoodTrace</a:t>
            </a:r>
            <a:r>
              <a:rPr dirty="0"/>
              <a:t> Cloud Supply Chain Tracker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Selected SDG Goal(s): SDG 2, SDG 9, SDG 12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dirty="0"/>
              <a:t>Cloud Platform / Tools: Cloud Run, Firebase, PostgreSQL, </a:t>
            </a:r>
            <a:r>
              <a:rPr dirty="0" err="1"/>
              <a:t>FastAPI</a:t>
            </a:r>
            <a:r>
              <a:rPr dirty="0"/>
              <a:t>, React, Flutter, QR Library</a:t>
            </a:r>
          </a:p>
        </p:txBody>
      </p:sp>
      <p:sp>
        <p:nvSpPr>
          <p:cNvPr id="33" name="Presentation Focus-panel"/>
          <p:cNvSpPr/>
          <p:nvPr/>
        </p:nvSpPr>
        <p:spPr>
          <a:xfrm>
            <a:off x="723900" y="3714750"/>
            <a:ext cx="6191250" cy="1391136"/>
          </a:xfrm>
          <a:prstGeom prst="roundRect">
            <a:avLst>
              <a:gd name="adj" fmla="val 6452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4" name="Presentation Focus-bar"/>
          <p:cNvSpPr/>
          <p:nvPr/>
        </p:nvSpPr>
        <p:spPr>
          <a:xfrm>
            <a:off x="723900" y="3714750"/>
            <a:ext cx="6191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" name="Presentation Focus"/>
          <p:cNvSpPr txBox="1"/>
          <p:nvPr/>
        </p:nvSpPr>
        <p:spPr>
          <a:xfrm>
            <a:off x="941069" y="3905250"/>
            <a:ext cx="575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Presentation Focus</a:t>
            </a:r>
          </a:p>
        </p:txBody>
      </p:sp>
      <p:sp>
        <p:nvSpPr>
          <p:cNvPr id="36" name="Present your capstone as a cloud-backed product. Explain the problem, architecture, service choices, evidence, and CO1 learning clearly."/>
          <p:cNvSpPr txBox="1"/>
          <p:nvPr/>
        </p:nvSpPr>
        <p:spPr>
          <a:xfrm>
            <a:off x="941069" y="4305300"/>
            <a:ext cx="5756912" cy="5093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400">
                <a:solidFill>
                  <a:srgbClr val="172033"/>
                </a:solidFill>
              </a:defRPr>
            </a:lvl1pPr>
          </a:lstStyle>
          <a:p>
            <a:r>
              <a:t>FoodTrace uses Google Cloud Run, Firebase, PostgreSQL, Python FastAPI, React, and Flutter to track food batches from farm to consumer with QR-based provenance and spoilage prediction.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3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44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46" name="CO1 AT3 | 0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02</a:t>
            </a:r>
          </a:p>
        </p:txBody>
      </p:sp>
      <p:sp>
        <p:nvSpPr>
          <p:cNvPr id="47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Problem Context and Stakeholder Mapping</a:t>
            </a:r>
          </a:p>
        </p:txBody>
      </p:sp>
      <p:sp>
        <p:nvSpPr>
          <p:cNvPr id="48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capstone begins with a real problem to solve</a:t>
            </a:r>
          </a:p>
        </p:txBody>
      </p:sp>
      <p:sp>
        <p:nvSpPr>
          <p:cNvPr id="49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50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1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2" name="Problem Statement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Problem Statement</a:t>
            </a:r>
          </a:p>
        </p:txBody>
      </p:sp>
      <p:sp>
        <p:nvSpPr>
          <p:cNvPr id="53" name="What real-world problem does the product solve?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Food products move through many suppliers and warehouses without recorded origin or storage history, increasing spoilage and reducing consumer trust.</a:t>
            </a:r>
          </a:p>
        </p:txBody>
      </p:sp>
      <p:sp>
        <p:nvSpPr>
          <p:cNvPr id="54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5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56" name="Target User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Target Users</a:t>
            </a:r>
          </a:p>
        </p:txBody>
      </p:sp>
      <p:sp>
        <p:nvSpPr>
          <p:cNvPr id="57" name="Who will use the product and what changes for them?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Farmers, manufacturers, warehouse managers, transport companies, retailers, food safety authorities, and consumers gain real-time batch visibility.</a:t>
            </a:r>
          </a:p>
        </p:txBody>
      </p:sp>
      <p:sp>
        <p:nvSpPr>
          <p:cNvPr id="58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59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0" name="SDG Fi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SDG Fit</a:t>
            </a:r>
          </a:p>
        </p:txBody>
      </p:sp>
      <p:sp>
        <p:nvSpPr>
          <p:cNvPr id="61" name="Which SDG goal is connected to the capstone outcome?"/>
          <p:cNvSpPr txBox="1"/>
          <p:nvPr/>
        </p:nvSpPr>
        <p:spPr>
          <a:xfrm>
            <a:off x="9982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SDG 2 improves food availability by reducing spoilage, SDG 9 modernizes supply chains with cloud technology, and SDG 12 encourages responsible production.</a:t>
            </a:r>
          </a:p>
        </p:txBody>
      </p:sp>
      <p:sp>
        <p:nvSpPr>
          <p:cNvPr id="62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63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64" name="Product Boundary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Boundary</a:t>
            </a:r>
          </a:p>
        </p:txBody>
      </p:sp>
      <p:sp>
        <p:nvSpPr>
          <p:cNvPr id="65" name="What is included in the first usable version?"/>
          <p:cNvSpPr txBox="1"/>
          <p:nvPr/>
        </p:nvSpPr>
        <p:spPr>
          <a:xfrm>
            <a:off x="64084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Batch registration, QR generation, movement tracking, storage monitoring, spoilage prediction, recall workflow, and an analytics dashboard.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72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73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74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75" name="CO1 AT3 | 03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03</a:t>
            </a:r>
          </a:p>
        </p:txBody>
      </p:sp>
      <p:sp>
        <p:nvSpPr>
          <p:cNvPr id="76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Adoption Rationale and Concept Map</a:t>
            </a:r>
          </a:p>
        </p:txBody>
      </p:sp>
      <p:sp>
        <p:nvSpPr>
          <p:cNvPr id="77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problem needs cloud support to become a usable product</a:t>
            </a:r>
          </a:p>
        </p:txBody>
      </p:sp>
      <p:sp>
        <p:nvSpPr>
          <p:cNvPr id="78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79" name="Cloud Definition-panel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0" name="Cloud Definition-bar"/>
          <p:cNvSpPr/>
          <p:nvPr/>
        </p:nvSpPr>
        <p:spPr>
          <a:xfrm>
            <a:off x="723900" y="16002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1" name="Cloud Definition"/>
          <p:cNvSpPr txBox="1"/>
          <p:nvPr/>
        </p:nvSpPr>
        <p:spPr>
          <a:xfrm>
            <a:off x="941069" y="17907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Definition</a:t>
            </a:r>
          </a:p>
        </p:txBody>
      </p:sp>
      <p:sp>
        <p:nvSpPr>
          <p:cNvPr id="82" name="Define cloud using your capstone context."/>
          <p:cNvSpPr txBox="1"/>
          <p:nvPr/>
        </p:nvSpPr>
        <p:spPr>
          <a:xfrm>
            <a:off x="941069" y="2190750"/>
            <a:ext cx="4328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FoodTrace uses cloud computing to securely store, process, and share supply chain data, enabling real-time tracking for all stakeholders.</a:t>
            </a:r>
          </a:p>
        </p:txBody>
      </p:sp>
      <p:sp>
        <p:nvSpPr>
          <p:cNvPr id="83" name="Cloud Characteristics-panel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84" name="Cloud Characteristics-bar"/>
          <p:cNvSpPr/>
          <p:nvPr/>
        </p:nvSpPr>
        <p:spPr>
          <a:xfrm>
            <a:off x="723900" y="3238500"/>
            <a:ext cx="47625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5" name="Cloud Characteristics"/>
          <p:cNvSpPr txBox="1"/>
          <p:nvPr/>
        </p:nvSpPr>
        <p:spPr>
          <a:xfrm>
            <a:off x="941069" y="3429000"/>
            <a:ext cx="43281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Characteristics</a:t>
            </a:r>
          </a:p>
        </p:txBody>
      </p:sp>
      <p:sp>
        <p:nvSpPr>
          <p:cNvPr id="86" name="Elasticity, scalability, measured service, resource pooling."/>
          <p:cNvSpPr txBox="1"/>
          <p:nvPr/>
        </p:nvSpPr>
        <p:spPr>
          <a:xfrm>
            <a:off x="941069" y="3829050"/>
            <a:ext cx="43281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Elastic Scalability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Resource Pooling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On-demand Access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Measured Service</a:t>
            </a:r>
          </a:p>
        </p:txBody>
      </p:sp>
      <p:sp>
        <p:nvSpPr>
          <p:cNvPr id="87" name="Cloud Concept Map-placeholder"/>
          <p:cNvSpPr/>
          <p:nvPr/>
        </p:nvSpPr>
        <p:spPr>
          <a:xfrm>
            <a:off x="6134100" y="1600200"/>
            <a:ext cx="4762500" cy="2895600"/>
          </a:xfrm>
          <a:prstGeom prst="roundRect">
            <a:avLst>
              <a:gd name="adj" fmla="val 2632"/>
            </a:avLst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88" name="Cloud Concept Map"/>
          <p:cNvSpPr txBox="1"/>
          <p:nvPr/>
        </p:nvSpPr>
        <p:spPr>
          <a:xfrm>
            <a:off x="6351269" y="1771650"/>
            <a:ext cx="43281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Cloud Concept Map</a:t>
            </a:r>
          </a:p>
        </p:txBody>
      </p:sp>
      <p:sp>
        <p:nvSpPr>
          <p:cNvPr id="89" name="Place a clean concept map that links cloud ecosystem, API role, service models, elasticity, and your capstone modules."/>
          <p:cNvSpPr txBox="1"/>
          <p:nvPr/>
        </p:nvSpPr>
        <p:spPr>
          <a:xfrm>
            <a:off x="6351269" y="2190750"/>
            <a:ext cx="432816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64748B"/>
                </a:solidFill>
              </a:defRPr>
            </a:lvl1pPr>
          </a:lstStyle>
          <a:p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5A462A-7BB4-D684-5251-AD10C64CD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102" y="1520826"/>
            <a:ext cx="5614737" cy="337819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9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9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9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99" name="CO1 AT3 | 04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04</a:t>
            </a:r>
          </a:p>
        </p:txBody>
      </p:sp>
      <p:sp>
        <p:nvSpPr>
          <p:cNvPr id="10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Capstone Cloud Architecture</a:t>
            </a:r>
          </a:p>
        </p:txBody>
      </p:sp>
      <p:sp>
        <p:nvSpPr>
          <p:cNvPr id="10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cloud architecture connects the user action to services</a:t>
            </a:r>
          </a:p>
        </p:txBody>
      </p:sp>
      <p:sp>
        <p:nvSpPr>
          <p:cNvPr id="10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03" name="node-User App / Web App"/>
          <p:cNvSpPr/>
          <p:nvPr/>
        </p:nvSpPr>
        <p:spPr>
          <a:xfrm>
            <a:off x="1047750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4" name="User App / Web App"/>
          <p:cNvSpPr txBox="1"/>
          <p:nvPr/>
        </p:nvSpPr>
        <p:spPr>
          <a:xfrm>
            <a:off x="1207769" y="2333625"/>
            <a:ext cx="1489712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React Web + Flutter Scanner</a:t>
            </a:r>
            <a:endParaRPr dirty="0"/>
          </a:p>
        </p:txBody>
      </p:sp>
      <p:sp>
        <p:nvSpPr>
          <p:cNvPr id="105" name="node-Auth + API Gateway"/>
          <p:cNvSpPr/>
          <p:nvPr/>
        </p:nvSpPr>
        <p:spPr>
          <a:xfrm>
            <a:off x="347662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6" name="Auth + API Gateway"/>
          <p:cNvSpPr txBox="1"/>
          <p:nvPr/>
        </p:nvSpPr>
        <p:spPr>
          <a:xfrm>
            <a:off x="3599495" y="2188845"/>
            <a:ext cx="1489712" cy="69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Firebase Authentication</a:t>
            </a:r>
          </a:p>
          <a:p>
            <a:r>
              <a:rPr lang="en-IN" dirty="0"/>
              <a:t>REST API Gateway</a:t>
            </a:r>
          </a:p>
        </p:txBody>
      </p:sp>
      <p:sp>
        <p:nvSpPr>
          <p:cNvPr id="107" name="node-Backend Services"/>
          <p:cNvSpPr/>
          <p:nvPr/>
        </p:nvSpPr>
        <p:spPr>
          <a:xfrm>
            <a:off x="5905499" y="2095500"/>
            <a:ext cx="1950719" cy="800097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08" name="Backend Services"/>
          <p:cNvSpPr txBox="1"/>
          <p:nvPr/>
        </p:nvSpPr>
        <p:spPr>
          <a:xfrm>
            <a:off x="5923165" y="2159404"/>
            <a:ext cx="1996439" cy="69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Python FastAPI</a:t>
            </a:r>
          </a:p>
          <a:p>
            <a:r>
              <a:rPr lang="en-IN" dirty="0"/>
              <a:t>QR Verification Service</a:t>
            </a:r>
          </a:p>
          <a:p>
            <a:r>
              <a:rPr lang="en-IN" dirty="0"/>
              <a:t>Spoilage Prediction Engine</a:t>
            </a:r>
          </a:p>
        </p:txBody>
      </p:sp>
      <p:sp>
        <p:nvSpPr>
          <p:cNvPr id="109" name="node-Database / Storage"/>
          <p:cNvSpPr/>
          <p:nvPr/>
        </p:nvSpPr>
        <p:spPr>
          <a:xfrm>
            <a:off x="8334375" y="20955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10" name="Database / Storage"/>
          <p:cNvSpPr txBox="1"/>
          <p:nvPr/>
        </p:nvSpPr>
        <p:spPr>
          <a:xfrm>
            <a:off x="8288656" y="2249458"/>
            <a:ext cx="1809750" cy="4924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PostgreSQL Database</a:t>
            </a:r>
          </a:p>
          <a:p>
            <a:r>
              <a:rPr lang="en-IN" dirty="0"/>
              <a:t>Cloud Object Storage</a:t>
            </a:r>
          </a:p>
        </p:txBody>
      </p:sp>
      <p:sp>
        <p:nvSpPr>
          <p:cNvPr id="111" name="node-Analytics + Monitoring"/>
          <p:cNvSpPr/>
          <p:nvPr/>
        </p:nvSpPr>
        <p:spPr>
          <a:xfrm>
            <a:off x="5886450" y="453390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>
            <a:solidFill>
              <a:srgbClr val="2F6690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 dirty="0"/>
          </a:p>
        </p:txBody>
      </p:sp>
      <p:sp>
        <p:nvSpPr>
          <p:cNvPr id="112" name="Analytics + Monitoring"/>
          <p:cNvSpPr txBox="1"/>
          <p:nvPr/>
        </p:nvSpPr>
        <p:spPr>
          <a:xfrm>
            <a:off x="6019798" y="4587701"/>
            <a:ext cx="1489712" cy="6924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Dashboard</a:t>
            </a:r>
          </a:p>
          <a:p>
            <a:r>
              <a:rPr lang="en-IN" dirty="0"/>
              <a:t>Cloud Monitoring</a:t>
            </a:r>
          </a:p>
          <a:p>
            <a:r>
              <a:rPr lang="en-IN" dirty="0"/>
              <a:t>Audit Logs</a:t>
            </a:r>
          </a:p>
        </p:txBody>
      </p:sp>
      <p:sp>
        <p:nvSpPr>
          <p:cNvPr id="113" name="connector-0"/>
          <p:cNvSpPr/>
          <p:nvPr/>
        </p:nvSpPr>
        <p:spPr>
          <a:xfrm>
            <a:off x="2857500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4" name="connector-1"/>
          <p:cNvSpPr/>
          <p:nvPr/>
        </p:nvSpPr>
        <p:spPr>
          <a:xfrm>
            <a:off x="5286375" y="2495550"/>
            <a:ext cx="619125" cy="1905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5" name="connector-2"/>
          <p:cNvSpPr/>
          <p:nvPr/>
        </p:nvSpPr>
        <p:spPr>
          <a:xfrm flipV="1">
            <a:off x="7856218" y="2514599"/>
            <a:ext cx="478157" cy="4571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6" name="connector-3"/>
          <p:cNvSpPr/>
          <p:nvPr/>
        </p:nvSpPr>
        <p:spPr>
          <a:xfrm flipH="1">
            <a:off x="6736081" y="2895599"/>
            <a:ext cx="45719" cy="1638299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17" name="Scaling point"/>
          <p:cNvSpPr txBox="1"/>
          <p:nvPr/>
        </p:nvSpPr>
        <p:spPr>
          <a:xfrm>
            <a:off x="5951219" y="1733550"/>
            <a:ext cx="171831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 b="1">
                <a:solidFill>
                  <a:srgbClr val="334155"/>
                </a:solidFill>
              </a:defRPr>
            </a:lvl1pPr>
          </a:lstStyle>
          <a:p>
            <a:r>
              <a:t>Scaling point</a:t>
            </a:r>
          </a:p>
        </p:txBody>
      </p:sp>
      <p:sp>
        <p:nvSpPr>
          <p:cNvPr id="118" name="Security boundary"/>
          <p:cNvSpPr txBox="1"/>
          <p:nvPr/>
        </p:nvSpPr>
        <p:spPr>
          <a:xfrm>
            <a:off x="3522344" y="3067050"/>
            <a:ext cx="6576062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ctr">
              <a:defRPr sz="1100">
                <a:solidFill>
                  <a:srgbClr val="64748B"/>
                </a:solidFill>
              </a:defRPr>
            </a:lvl1pPr>
          </a:lstStyle>
          <a:p>
            <a:r>
              <a:t>Security boundary</a:t>
            </a:r>
          </a:p>
        </p:txBody>
      </p:sp>
      <p:sp>
        <p:nvSpPr>
          <p:cNvPr id="119" name="security-line"/>
          <p:cNvSpPr/>
          <p:nvPr/>
        </p:nvSpPr>
        <p:spPr>
          <a:xfrm>
            <a:off x="3286125" y="3333750"/>
            <a:ext cx="7048500" cy="19050"/>
          </a:xfrm>
          <a:prstGeom prst="rect">
            <a:avLst/>
          </a:prstGeom>
          <a:solidFill>
            <a:srgbClr val="B7C9D9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0" name="Presentation Points-panel"/>
          <p:cNvSpPr/>
          <p:nvPr/>
        </p:nvSpPr>
        <p:spPr>
          <a:xfrm>
            <a:off x="9427844" y="3446354"/>
            <a:ext cx="2381250" cy="2192446"/>
          </a:xfrm>
          <a:prstGeom prst="roundRect">
            <a:avLst>
              <a:gd name="adj" fmla="val 3200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21" name="Presentation Points-bar"/>
          <p:cNvSpPr/>
          <p:nvPr/>
        </p:nvSpPr>
        <p:spPr>
          <a:xfrm>
            <a:off x="9427844" y="3470424"/>
            <a:ext cx="2381250" cy="85725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22" name="Presentation Points"/>
          <p:cNvSpPr txBox="1"/>
          <p:nvPr/>
        </p:nvSpPr>
        <p:spPr>
          <a:xfrm>
            <a:off x="9692638" y="3495675"/>
            <a:ext cx="1946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rPr dirty="0"/>
              <a:t>Presentation Points</a:t>
            </a:r>
          </a:p>
        </p:txBody>
      </p:sp>
      <p:sp>
        <p:nvSpPr>
          <p:cNvPr id="123" name="Request path…"/>
          <p:cNvSpPr txBox="1"/>
          <p:nvPr/>
        </p:nvSpPr>
        <p:spPr>
          <a:xfrm>
            <a:off x="9625330" y="4140518"/>
            <a:ext cx="1946912" cy="14927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User Request Flow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REST APIs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Compute Services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Database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Storage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Monitoring</a:t>
            </a:r>
          </a:p>
          <a:p>
            <a:pPr>
              <a:defRPr sz="1300">
                <a:solidFill>
                  <a:srgbClr val="172033"/>
                </a:solidFill>
              </a:defRPr>
            </a:pPr>
            <a:r>
              <a:rPr lang="en-IN" sz="1300" dirty="0"/>
              <a:t>Security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0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31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33" name="CO1 AT3 | 05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05</a:t>
            </a:r>
          </a:p>
        </p:txBody>
      </p:sp>
      <p:sp>
        <p:nvSpPr>
          <p:cNvPr id="134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Cloud Service Model Responsibility Matrix</a:t>
            </a:r>
          </a:p>
        </p:txBody>
      </p:sp>
      <p:sp>
        <p:nvSpPr>
          <p:cNvPr id="135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Each service model defines what we control and what cloud manages</a:t>
            </a:r>
          </a:p>
        </p:txBody>
      </p:sp>
      <p:sp>
        <p:nvSpPr>
          <p:cNvPr id="136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37" name="matrix-h-0"/>
          <p:cNvSpPr/>
          <p:nvPr/>
        </p:nvSpPr>
        <p:spPr>
          <a:xfrm>
            <a:off x="723900" y="1809750"/>
            <a:ext cx="1714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38" name="Service area"/>
          <p:cNvSpPr txBox="1"/>
          <p:nvPr/>
        </p:nvSpPr>
        <p:spPr>
          <a:xfrm>
            <a:off x="845819" y="1971675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Service area</a:t>
            </a:r>
          </a:p>
        </p:txBody>
      </p:sp>
      <p:sp>
        <p:nvSpPr>
          <p:cNvPr id="139" name="matrix-h-1"/>
          <p:cNvSpPr/>
          <p:nvPr/>
        </p:nvSpPr>
        <p:spPr>
          <a:xfrm>
            <a:off x="2438400" y="1809750"/>
            <a:ext cx="1143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0" name="Model"/>
          <p:cNvSpPr txBox="1"/>
          <p:nvPr/>
        </p:nvSpPr>
        <p:spPr>
          <a:xfrm>
            <a:off x="2560319" y="1971675"/>
            <a:ext cx="899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Model</a:t>
            </a:r>
          </a:p>
        </p:txBody>
      </p:sp>
      <p:sp>
        <p:nvSpPr>
          <p:cNvPr id="141" name="matrix-h-2"/>
          <p:cNvSpPr/>
          <p:nvPr/>
        </p:nvSpPr>
        <p:spPr>
          <a:xfrm>
            <a:off x="3581400" y="1809750"/>
            <a:ext cx="22860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2" name="Provider manages"/>
          <p:cNvSpPr txBox="1"/>
          <p:nvPr/>
        </p:nvSpPr>
        <p:spPr>
          <a:xfrm>
            <a:off x="3703319" y="1971675"/>
            <a:ext cx="20421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Provider manages</a:t>
            </a:r>
          </a:p>
        </p:txBody>
      </p:sp>
      <p:sp>
        <p:nvSpPr>
          <p:cNvPr id="143" name="matrix-h-3"/>
          <p:cNvSpPr/>
          <p:nvPr/>
        </p:nvSpPr>
        <p:spPr>
          <a:xfrm>
            <a:off x="5867400" y="1809750"/>
            <a:ext cx="238125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4" name="Student team manages"/>
          <p:cNvSpPr txBox="1"/>
          <p:nvPr/>
        </p:nvSpPr>
        <p:spPr>
          <a:xfrm>
            <a:off x="5989319" y="1971675"/>
            <a:ext cx="213741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Student team manages</a:t>
            </a:r>
          </a:p>
        </p:txBody>
      </p:sp>
      <p:sp>
        <p:nvSpPr>
          <p:cNvPr id="145" name="matrix-h-4"/>
          <p:cNvSpPr/>
          <p:nvPr/>
        </p:nvSpPr>
        <p:spPr>
          <a:xfrm>
            <a:off x="8248650" y="1809750"/>
            <a:ext cx="2476500" cy="495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6" name="Why this fits"/>
          <p:cNvSpPr txBox="1"/>
          <p:nvPr/>
        </p:nvSpPr>
        <p:spPr>
          <a:xfrm>
            <a:off x="8370569" y="1971675"/>
            <a:ext cx="2232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000" b="1">
                <a:solidFill>
                  <a:srgbClr val="FFFFFF"/>
                </a:solidFill>
              </a:defRPr>
            </a:lvl1pPr>
          </a:lstStyle>
          <a:p>
            <a:r>
              <a:t>Why this fits</a:t>
            </a:r>
          </a:p>
        </p:txBody>
      </p:sp>
      <p:sp>
        <p:nvSpPr>
          <p:cNvPr id="147" name="matrix-0-0"/>
          <p:cNvSpPr/>
          <p:nvPr/>
        </p:nvSpPr>
        <p:spPr>
          <a:xfrm>
            <a:off x="723900" y="23050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48" name="Frontend hosting"/>
          <p:cNvSpPr txBox="1"/>
          <p:nvPr/>
        </p:nvSpPr>
        <p:spPr>
          <a:xfrm>
            <a:off x="845819" y="24574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Frontend Hosting</a:t>
            </a:r>
          </a:p>
        </p:txBody>
      </p:sp>
      <p:sp>
        <p:nvSpPr>
          <p:cNvPr id="149" name="matrix-0-1"/>
          <p:cNvSpPr/>
          <p:nvPr/>
        </p:nvSpPr>
        <p:spPr>
          <a:xfrm>
            <a:off x="2438400" y="23050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 algn="ctr">
              <a:defRPr sz="1000">
                <a:solidFill>
                  <a:srgbClr val="334155"/>
                </a:solidFill>
              </a:defRPr>
            </a:lvl1pPr>
          </a:lstStyle>
          <a:p>
            <a:pPr algn="ctr"/>
            <a:r>
              <a:t>SaaS</a:t>
            </a:r>
          </a:p>
        </p:txBody>
      </p:sp>
      <p:sp>
        <p:nvSpPr>
          <p:cNvPr id="150" name="matrix-0-2"/>
          <p:cNvSpPr/>
          <p:nvPr/>
        </p:nvSpPr>
        <p:spPr>
          <a:xfrm>
            <a:off x="3581400" y="23050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Hosting Platform</a:t>
            </a:r>
          </a:p>
        </p:txBody>
      </p:sp>
      <p:sp>
        <p:nvSpPr>
          <p:cNvPr id="151" name="matrix-0-3"/>
          <p:cNvSpPr/>
          <p:nvPr/>
        </p:nvSpPr>
        <p:spPr>
          <a:xfrm>
            <a:off x="5867400" y="23050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UI Development</a:t>
            </a:r>
          </a:p>
        </p:txBody>
      </p:sp>
      <p:sp>
        <p:nvSpPr>
          <p:cNvPr id="152" name="matrix-0-4"/>
          <p:cNvSpPr/>
          <p:nvPr/>
        </p:nvSpPr>
        <p:spPr>
          <a:xfrm>
            <a:off x="8248650" y="23050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Fast Deployment</a:t>
            </a:r>
          </a:p>
        </p:txBody>
      </p:sp>
      <p:sp>
        <p:nvSpPr>
          <p:cNvPr id="153" name="matrix-1-0"/>
          <p:cNvSpPr/>
          <p:nvPr/>
        </p:nvSpPr>
        <p:spPr>
          <a:xfrm>
            <a:off x="723900" y="28003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54" name="Backend/API"/>
          <p:cNvSpPr txBox="1"/>
          <p:nvPr/>
        </p:nvSpPr>
        <p:spPr>
          <a:xfrm>
            <a:off x="845819" y="29527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Backend APIs</a:t>
            </a:r>
          </a:p>
        </p:txBody>
      </p:sp>
      <p:sp>
        <p:nvSpPr>
          <p:cNvPr id="155" name="matrix-1-1"/>
          <p:cNvSpPr/>
          <p:nvPr/>
        </p:nvSpPr>
        <p:spPr>
          <a:xfrm>
            <a:off x="2438400" y="28003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 algn="ctr">
              <a:defRPr sz="1000">
                <a:solidFill>
                  <a:srgbClr val="334155"/>
                </a:solidFill>
              </a:defRPr>
            </a:lvl1pPr>
          </a:lstStyle>
          <a:p>
            <a:pPr algn="ctr"/>
            <a:r>
              <a:t>PaaS</a:t>
            </a:r>
          </a:p>
        </p:txBody>
      </p:sp>
      <p:sp>
        <p:nvSpPr>
          <p:cNvPr id="156" name="matrix-1-2"/>
          <p:cNvSpPr/>
          <p:nvPr/>
        </p:nvSpPr>
        <p:spPr>
          <a:xfrm>
            <a:off x="3581400" y="28003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Runtime Environment</a:t>
            </a:r>
          </a:p>
        </p:txBody>
      </p:sp>
      <p:sp>
        <p:nvSpPr>
          <p:cNvPr id="157" name="matrix-1-3"/>
          <p:cNvSpPr/>
          <p:nvPr/>
        </p:nvSpPr>
        <p:spPr>
          <a:xfrm>
            <a:off x="5867400" y="28003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Business Logic</a:t>
            </a:r>
          </a:p>
        </p:txBody>
      </p:sp>
      <p:sp>
        <p:nvSpPr>
          <p:cNvPr id="158" name="matrix-1-4"/>
          <p:cNvSpPr/>
          <p:nvPr/>
        </p:nvSpPr>
        <p:spPr>
          <a:xfrm>
            <a:off x="8248650" y="28003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Auto Scaling</a:t>
            </a:r>
          </a:p>
        </p:txBody>
      </p:sp>
      <p:sp>
        <p:nvSpPr>
          <p:cNvPr id="159" name="matrix-2-0"/>
          <p:cNvSpPr/>
          <p:nvPr/>
        </p:nvSpPr>
        <p:spPr>
          <a:xfrm>
            <a:off x="723900" y="32956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0" name="Database"/>
          <p:cNvSpPr txBox="1"/>
          <p:nvPr/>
        </p:nvSpPr>
        <p:spPr>
          <a:xfrm>
            <a:off x="845819" y="34480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Database</a:t>
            </a:r>
          </a:p>
        </p:txBody>
      </p:sp>
      <p:sp>
        <p:nvSpPr>
          <p:cNvPr id="161" name="matrix-2-1"/>
          <p:cNvSpPr/>
          <p:nvPr/>
        </p:nvSpPr>
        <p:spPr>
          <a:xfrm>
            <a:off x="2438400" y="32956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 algn="ctr">
              <a:defRPr sz="1000">
                <a:solidFill>
                  <a:srgbClr val="334155"/>
                </a:solidFill>
              </a:defRPr>
            </a:lvl1pPr>
          </a:lstStyle>
          <a:p>
            <a:pPr algn="ctr"/>
            <a:r>
              <a:t>DBaaS</a:t>
            </a:r>
          </a:p>
        </p:txBody>
      </p:sp>
      <p:sp>
        <p:nvSpPr>
          <p:cNvPr id="162" name="matrix-2-2"/>
          <p:cNvSpPr/>
          <p:nvPr/>
        </p:nvSpPr>
        <p:spPr>
          <a:xfrm>
            <a:off x="3581400" y="32956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Database Server</a:t>
            </a:r>
          </a:p>
        </p:txBody>
      </p:sp>
      <p:sp>
        <p:nvSpPr>
          <p:cNvPr id="163" name="matrix-2-3"/>
          <p:cNvSpPr/>
          <p:nvPr/>
        </p:nvSpPr>
        <p:spPr>
          <a:xfrm>
            <a:off x="5867400" y="32956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Data Model</a:t>
            </a:r>
          </a:p>
        </p:txBody>
      </p:sp>
      <p:sp>
        <p:nvSpPr>
          <p:cNvPr id="164" name="matrix-2-4"/>
          <p:cNvSpPr/>
          <p:nvPr/>
        </p:nvSpPr>
        <p:spPr>
          <a:xfrm>
            <a:off x="8248650" y="32956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Reliable Storage</a:t>
            </a:r>
          </a:p>
        </p:txBody>
      </p:sp>
      <p:sp>
        <p:nvSpPr>
          <p:cNvPr id="165" name="matrix-3-0"/>
          <p:cNvSpPr/>
          <p:nvPr/>
        </p:nvSpPr>
        <p:spPr>
          <a:xfrm>
            <a:off x="723900" y="37909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6" name="Storage"/>
          <p:cNvSpPr txBox="1"/>
          <p:nvPr/>
        </p:nvSpPr>
        <p:spPr>
          <a:xfrm>
            <a:off x="845819" y="39433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Object Storage</a:t>
            </a:r>
          </a:p>
        </p:txBody>
      </p:sp>
      <p:sp>
        <p:nvSpPr>
          <p:cNvPr id="167" name="matrix-3-1"/>
          <p:cNvSpPr/>
          <p:nvPr/>
        </p:nvSpPr>
        <p:spPr>
          <a:xfrm>
            <a:off x="2438400" y="37909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 algn="ctr">
              <a:defRPr sz="1000">
                <a:solidFill>
                  <a:srgbClr val="334155"/>
                </a:solidFill>
              </a:defRPr>
            </a:lvl1pPr>
          </a:lstStyle>
          <a:p>
            <a:pPr algn="ctr"/>
            <a:r>
              <a:t>SaaS</a:t>
            </a:r>
          </a:p>
        </p:txBody>
      </p:sp>
      <p:sp>
        <p:nvSpPr>
          <p:cNvPr id="168" name="matrix-3-2"/>
          <p:cNvSpPr/>
          <p:nvPr/>
        </p:nvSpPr>
        <p:spPr>
          <a:xfrm>
            <a:off x="3581400" y="37909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File Storage</a:t>
            </a:r>
          </a:p>
        </p:txBody>
      </p:sp>
      <p:sp>
        <p:nvSpPr>
          <p:cNvPr id="169" name="matrix-3-3"/>
          <p:cNvSpPr/>
          <p:nvPr/>
        </p:nvSpPr>
        <p:spPr>
          <a:xfrm>
            <a:off x="5867400" y="37909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Certificates</a:t>
            </a:r>
          </a:p>
        </p:txBody>
      </p:sp>
      <p:sp>
        <p:nvSpPr>
          <p:cNvPr id="170" name="matrix-3-4"/>
          <p:cNvSpPr/>
          <p:nvPr/>
        </p:nvSpPr>
        <p:spPr>
          <a:xfrm>
            <a:off x="8248650" y="37909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Secure Storage</a:t>
            </a:r>
          </a:p>
        </p:txBody>
      </p:sp>
      <p:sp>
        <p:nvSpPr>
          <p:cNvPr id="171" name="matrix-4-0"/>
          <p:cNvSpPr/>
          <p:nvPr/>
        </p:nvSpPr>
        <p:spPr>
          <a:xfrm>
            <a:off x="723900" y="4286250"/>
            <a:ext cx="1714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2" name="Monitoring / logs"/>
          <p:cNvSpPr txBox="1"/>
          <p:nvPr/>
        </p:nvSpPr>
        <p:spPr>
          <a:xfrm>
            <a:off x="845819" y="44386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Monitoring</a:t>
            </a:r>
          </a:p>
        </p:txBody>
      </p:sp>
      <p:sp>
        <p:nvSpPr>
          <p:cNvPr id="173" name="matrix-4-1"/>
          <p:cNvSpPr/>
          <p:nvPr/>
        </p:nvSpPr>
        <p:spPr>
          <a:xfrm>
            <a:off x="2438400" y="4286250"/>
            <a:ext cx="1143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 algn="ctr">
              <a:defRPr sz="1000">
                <a:solidFill>
                  <a:srgbClr val="334155"/>
                </a:solidFill>
              </a:defRPr>
            </a:lvl1pPr>
          </a:lstStyle>
          <a:p>
            <a:pPr algn="ctr"/>
            <a:r>
              <a:t>SaaS</a:t>
            </a:r>
          </a:p>
        </p:txBody>
      </p:sp>
      <p:sp>
        <p:nvSpPr>
          <p:cNvPr id="174" name="matrix-4-2"/>
          <p:cNvSpPr/>
          <p:nvPr/>
        </p:nvSpPr>
        <p:spPr>
          <a:xfrm>
            <a:off x="3581400" y="4286250"/>
            <a:ext cx="22860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Cloud Logs</a:t>
            </a:r>
          </a:p>
        </p:txBody>
      </p:sp>
      <p:sp>
        <p:nvSpPr>
          <p:cNvPr id="175" name="matrix-4-3"/>
          <p:cNvSpPr/>
          <p:nvPr/>
        </p:nvSpPr>
        <p:spPr>
          <a:xfrm>
            <a:off x="5867400" y="4286250"/>
            <a:ext cx="238125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Dashboard</a:t>
            </a:r>
          </a:p>
        </p:txBody>
      </p:sp>
      <p:sp>
        <p:nvSpPr>
          <p:cNvPr id="176" name="matrix-4-4"/>
          <p:cNvSpPr/>
          <p:nvPr/>
        </p:nvSpPr>
        <p:spPr>
          <a:xfrm>
            <a:off x="8248650" y="4286250"/>
            <a:ext cx="2476500" cy="476250"/>
          </a:xfrm>
          <a:prstGeom prst="rect">
            <a:avLst/>
          </a:prstGeom>
          <a:solidFill>
            <a:srgbClr val="F6F8FB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Performance Analysis</a:t>
            </a:r>
          </a:p>
        </p:txBody>
      </p:sp>
      <p:sp>
        <p:nvSpPr>
          <p:cNvPr id="177" name="matrix-5-0"/>
          <p:cNvSpPr/>
          <p:nvPr/>
        </p:nvSpPr>
        <p:spPr>
          <a:xfrm>
            <a:off x="723900" y="4781550"/>
            <a:ext cx="1714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78" name="Security / IAM"/>
          <p:cNvSpPr txBox="1"/>
          <p:nvPr/>
        </p:nvSpPr>
        <p:spPr>
          <a:xfrm>
            <a:off x="845819" y="4933950"/>
            <a:ext cx="1470662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179" name="matrix-5-1"/>
          <p:cNvSpPr/>
          <p:nvPr/>
        </p:nvSpPr>
        <p:spPr>
          <a:xfrm>
            <a:off x="2438400" y="4781550"/>
            <a:ext cx="1143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 algn="ctr">
              <a:defRPr sz="1000">
                <a:solidFill>
                  <a:srgbClr val="334155"/>
                </a:solidFill>
              </a:defRPr>
            </a:lvl1pPr>
          </a:lstStyle>
          <a:p>
            <a:pPr algn="ctr"/>
            <a:r>
              <a:t>SaaS</a:t>
            </a:r>
          </a:p>
        </p:txBody>
      </p:sp>
      <p:sp>
        <p:nvSpPr>
          <p:cNvPr id="180" name="matrix-5-2"/>
          <p:cNvSpPr/>
          <p:nvPr/>
        </p:nvSpPr>
        <p:spPr>
          <a:xfrm>
            <a:off x="3581400" y="4781550"/>
            <a:ext cx="22860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Authentication</a:t>
            </a:r>
          </a:p>
        </p:txBody>
      </p:sp>
      <p:sp>
        <p:nvSpPr>
          <p:cNvPr id="181" name="matrix-5-3"/>
          <p:cNvSpPr/>
          <p:nvPr/>
        </p:nvSpPr>
        <p:spPr>
          <a:xfrm>
            <a:off x="5867400" y="4781550"/>
            <a:ext cx="238125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User Roles</a:t>
            </a:r>
          </a:p>
        </p:txBody>
      </p:sp>
      <p:sp>
        <p:nvSpPr>
          <p:cNvPr id="182" name="matrix-5-4"/>
          <p:cNvSpPr/>
          <p:nvPr/>
        </p:nvSpPr>
        <p:spPr>
          <a:xfrm>
            <a:off x="8248650" y="4781550"/>
            <a:ext cx="2476500" cy="476250"/>
          </a:xfrm>
          <a:prstGeom prst="rect">
            <a:avLst/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45719" tIns="0" rIns="45719" bIns="0" anchor="ctr"/>
          <a:lstStyle>
            <a:lvl1pPr>
              <a:defRPr sz="1000">
                <a:solidFill>
                  <a:srgbClr val="334155"/>
                </a:solidFill>
              </a:defRPr>
            </a:lvl1pPr>
          </a:lstStyle>
          <a:p>
            <a:r>
              <a:t>Secure Access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89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190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192" name="CO1 AT3 | 06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06</a:t>
            </a:r>
          </a:p>
        </p:txBody>
      </p:sp>
      <p:sp>
        <p:nvSpPr>
          <p:cNvPr id="193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Data Flow and Analytics Pipeline</a:t>
            </a:r>
          </a:p>
        </p:txBody>
      </p:sp>
      <p:sp>
        <p:nvSpPr>
          <p:cNvPr id="194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The product data moves from user activity to useful insight</a:t>
            </a:r>
          </a:p>
        </p:txBody>
      </p:sp>
      <p:sp>
        <p:nvSpPr>
          <p:cNvPr id="195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196" name="flow-0"/>
          <p:cNvSpPr/>
          <p:nvPr/>
        </p:nvSpPr>
        <p:spPr>
          <a:xfrm>
            <a:off x="10668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197" name="Collect"/>
          <p:cNvSpPr txBox="1"/>
          <p:nvPr/>
        </p:nvSpPr>
        <p:spPr>
          <a:xfrm>
            <a:off x="1186813" y="1673286"/>
            <a:ext cx="994412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QR Scan</a:t>
            </a:r>
          </a:p>
          <a:p>
            <a:r>
              <a:rPr lang="en-IN" dirty="0"/>
              <a:t>Temperature</a:t>
            </a:r>
          </a:p>
          <a:p>
            <a:r>
              <a:rPr lang="en-IN" dirty="0"/>
              <a:t>Batch Details</a:t>
            </a:r>
          </a:p>
          <a:p>
            <a:endParaRPr dirty="0"/>
          </a:p>
        </p:txBody>
      </p:sp>
      <p:sp>
        <p:nvSpPr>
          <p:cNvPr id="198" name="flow-line-0"/>
          <p:cNvSpPr/>
          <p:nvPr/>
        </p:nvSpPr>
        <p:spPr>
          <a:xfrm>
            <a:off x="24955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99" name="flow-1"/>
          <p:cNvSpPr/>
          <p:nvPr/>
        </p:nvSpPr>
        <p:spPr>
          <a:xfrm>
            <a:off x="30480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0" name="Ingest"/>
          <p:cNvSpPr txBox="1"/>
          <p:nvPr/>
        </p:nvSpPr>
        <p:spPr>
          <a:xfrm>
            <a:off x="3227069" y="1905000"/>
            <a:ext cx="994412" cy="292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REST API</a:t>
            </a:r>
            <a:endParaRPr dirty="0"/>
          </a:p>
        </p:txBody>
      </p:sp>
      <p:sp>
        <p:nvSpPr>
          <p:cNvPr id="201" name="flow-line-1"/>
          <p:cNvSpPr/>
          <p:nvPr/>
        </p:nvSpPr>
        <p:spPr>
          <a:xfrm>
            <a:off x="44767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2" name="flow-2"/>
          <p:cNvSpPr/>
          <p:nvPr/>
        </p:nvSpPr>
        <p:spPr>
          <a:xfrm>
            <a:off x="50292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3" name="Store"/>
          <p:cNvSpPr txBox="1"/>
          <p:nvPr/>
        </p:nvSpPr>
        <p:spPr>
          <a:xfrm>
            <a:off x="5202552" y="1658046"/>
            <a:ext cx="994412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PostgreSQL</a:t>
            </a:r>
          </a:p>
          <a:p>
            <a:r>
              <a:rPr lang="en-IN" dirty="0"/>
              <a:t>Cloud Storage</a:t>
            </a:r>
          </a:p>
          <a:p>
            <a:endParaRPr dirty="0"/>
          </a:p>
        </p:txBody>
      </p:sp>
      <p:sp>
        <p:nvSpPr>
          <p:cNvPr id="204" name="flow-line-2"/>
          <p:cNvSpPr/>
          <p:nvPr/>
        </p:nvSpPr>
        <p:spPr>
          <a:xfrm>
            <a:off x="64579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5" name="flow-3"/>
          <p:cNvSpPr/>
          <p:nvPr/>
        </p:nvSpPr>
        <p:spPr>
          <a:xfrm>
            <a:off x="70104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6" name="Process"/>
          <p:cNvSpPr txBox="1"/>
          <p:nvPr/>
        </p:nvSpPr>
        <p:spPr>
          <a:xfrm>
            <a:off x="7130413" y="1695450"/>
            <a:ext cx="994412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Risk Prediction</a:t>
            </a:r>
          </a:p>
          <a:p>
            <a:r>
              <a:rPr lang="en-IN" dirty="0"/>
              <a:t>Analytics</a:t>
            </a:r>
          </a:p>
          <a:p>
            <a:endParaRPr dirty="0"/>
          </a:p>
        </p:txBody>
      </p:sp>
      <p:sp>
        <p:nvSpPr>
          <p:cNvPr id="207" name="flow-line-3"/>
          <p:cNvSpPr/>
          <p:nvPr/>
        </p:nvSpPr>
        <p:spPr>
          <a:xfrm>
            <a:off x="8439150" y="2000250"/>
            <a:ext cx="51435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08" name="flow-4"/>
          <p:cNvSpPr/>
          <p:nvPr/>
        </p:nvSpPr>
        <p:spPr>
          <a:xfrm>
            <a:off x="8991600" y="1695450"/>
            <a:ext cx="1352550" cy="628650"/>
          </a:xfrm>
          <a:prstGeom prst="roundRect">
            <a:avLst>
              <a:gd name="adj" fmla="val 1212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09" name="Visualize"/>
          <p:cNvSpPr txBox="1"/>
          <p:nvPr/>
        </p:nvSpPr>
        <p:spPr>
          <a:xfrm>
            <a:off x="9199244" y="1702497"/>
            <a:ext cx="994412" cy="892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defRPr sz="1300" b="1">
                <a:solidFill>
                  <a:srgbClr val="1F4E79"/>
                </a:solidFill>
              </a:defRPr>
            </a:lvl1pPr>
          </a:lstStyle>
          <a:p>
            <a:r>
              <a:rPr lang="en-IN" dirty="0"/>
              <a:t>Dashboard</a:t>
            </a:r>
          </a:p>
          <a:p>
            <a:r>
              <a:rPr lang="en-IN" dirty="0"/>
              <a:t>Reports</a:t>
            </a:r>
          </a:p>
          <a:p>
            <a:r>
              <a:rPr lang="en-IN" dirty="0"/>
              <a:t>Alerts</a:t>
            </a:r>
          </a:p>
          <a:p>
            <a:endParaRPr dirty="0"/>
          </a:p>
        </p:txBody>
      </p:sp>
      <p:sp>
        <p:nvSpPr>
          <p:cNvPr id="210" name="Data Requirements-panel"/>
          <p:cNvSpPr/>
          <p:nvPr/>
        </p:nvSpPr>
        <p:spPr>
          <a:xfrm>
            <a:off x="7239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1" name="Data Requirements-bar"/>
          <p:cNvSpPr/>
          <p:nvPr/>
        </p:nvSpPr>
        <p:spPr>
          <a:xfrm>
            <a:off x="7239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2" name="Data Requirements"/>
          <p:cNvSpPr txBox="1"/>
          <p:nvPr/>
        </p:nvSpPr>
        <p:spPr>
          <a:xfrm>
            <a:off x="9410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Data Requirements</a:t>
            </a:r>
          </a:p>
        </p:txBody>
      </p:sp>
      <p:sp>
        <p:nvSpPr>
          <p:cNvPr id="213" name="User data, events, logs, files, sensor data, or transactions."/>
          <p:cNvSpPr txBox="1"/>
          <p:nvPr/>
        </p:nvSpPr>
        <p:spPr>
          <a:xfrm>
            <a:off x="94106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Batch ID, QR ID, temperature, humidity, warehouse, timestamp, and transport details.</a:t>
            </a:r>
          </a:p>
        </p:txBody>
      </p:sp>
      <p:sp>
        <p:nvSpPr>
          <p:cNvPr id="214" name="Analytics Requirement-panel"/>
          <p:cNvSpPr/>
          <p:nvPr/>
        </p:nvSpPr>
        <p:spPr>
          <a:xfrm>
            <a:off x="436245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5" name="Analytics Requirement-bar"/>
          <p:cNvSpPr/>
          <p:nvPr/>
        </p:nvSpPr>
        <p:spPr>
          <a:xfrm>
            <a:off x="436245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16" name="Analytics Requirement"/>
          <p:cNvSpPr txBox="1"/>
          <p:nvPr/>
        </p:nvSpPr>
        <p:spPr>
          <a:xfrm>
            <a:off x="457961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Analytics Requirement</a:t>
            </a:r>
          </a:p>
        </p:txBody>
      </p:sp>
      <p:sp>
        <p:nvSpPr>
          <p:cNvPr id="217" name="Dashboard, alert, prediction, report, trend, or decision support."/>
          <p:cNvSpPr txBox="1"/>
          <p:nvPr/>
        </p:nvSpPr>
        <p:spPr>
          <a:xfrm>
            <a:off x="457961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Spoilage Prediction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Supply Chain Performance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Food Waste Analysis</a:t>
            </a:r>
          </a:p>
        </p:txBody>
      </p:sp>
      <p:sp>
        <p:nvSpPr>
          <p:cNvPr id="218" name="Proof Required-panel"/>
          <p:cNvSpPr/>
          <p:nvPr/>
        </p:nvSpPr>
        <p:spPr>
          <a:xfrm>
            <a:off x="8001000" y="3238500"/>
            <a:ext cx="3143250" cy="1200150"/>
          </a:xfrm>
          <a:prstGeom prst="roundRect">
            <a:avLst>
              <a:gd name="adj" fmla="val 6349"/>
            </a:avLst>
          </a:prstGeom>
          <a:solidFill>
            <a:srgbClr val="EEF2F6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19" name="Proof Required-bar"/>
          <p:cNvSpPr/>
          <p:nvPr/>
        </p:nvSpPr>
        <p:spPr>
          <a:xfrm>
            <a:off x="8001000" y="3238500"/>
            <a:ext cx="314325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0" name="Proof Required"/>
          <p:cNvSpPr txBox="1"/>
          <p:nvPr/>
        </p:nvSpPr>
        <p:spPr>
          <a:xfrm>
            <a:off x="8218169" y="3429000"/>
            <a:ext cx="270891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Proof Required</a:t>
            </a:r>
          </a:p>
        </p:txBody>
      </p:sp>
      <p:sp>
        <p:nvSpPr>
          <p:cNvPr id="221" name="Sample input, sample output, and one insight generated."/>
          <p:cNvSpPr txBox="1"/>
          <p:nvPr/>
        </p:nvSpPr>
        <p:spPr>
          <a:xfrm>
            <a:off x="8218169" y="3829050"/>
            <a:ext cx="270891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QR Scan Demo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Spoilage Report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Dashboard Screenshot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28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29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30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31" name="CO1 AT3 | 07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07</a:t>
            </a:r>
          </a:p>
        </p:txBody>
      </p:sp>
      <p:sp>
        <p:nvSpPr>
          <p:cNvPr id="232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Python / AI Module Integration</a:t>
            </a:r>
          </a:p>
        </p:txBody>
      </p:sp>
      <p:sp>
        <p:nvSpPr>
          <p:cNvPr id="233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Python or AI adds intelligence where the product needs it</a:t>
            </a:r>
          </a:p>
        </p:txBody>
      </p:sp>
      <p:sp>
        <p:nvSpPr>
          <p:cNvPr id="234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35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36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37" name="Python Rol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Python Role</a:t>
            </a:r>
          </a:p>
        </p:txBody>
      </p:sp>
      <p:sp>
        <p:nvSpPr>
          <p:cNvPr id="238" name="Prediction, automation, analytics, OCR, NLP, or reporting.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Predicts spoilage risk using storage conditions and shelf-life analytics.</a:t>
            </a:r>
          </a:p>
        </p:txBody>
      </p:sp>
      <p:sp>
        <p:nvSpPr>
          <p:cNvPr id="239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0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1" name="Input and Output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Input and Output</a:t>
            </a:r>
          </a:p>
        </p:txBody>
      </p:sp>
      <p:sp>
        <p:nvSpPr>
          <p:cNvPr id="242" name="What data enters the module and what result comes out?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>
              <a:spcAft>
                <a:spcPts val="200"/>
              </a:spcAft>
            </a:pPr>
            <a:r>
              <a:rPr sz="1000" b="1">
                <a:solidFill>
                  <a:srgbClr val="172033"/>
                </a:solidFill>
              </a:rPr>
              <a:t>Input: </a:t>
            </a:r>
            <a:r>
              <a:rPr sz="1000">
                <a:solidFill>
                  <a:srgbClr val="172033"/>
                </a:solidFill>
              </a:rPr>
              <a:t>Temperature, Humidity, Transit Time</a:t>
            </a:r>
          </a:p>
          <a:p>
            <a:pPr>
              <a:spcAft>
                <a:spcPts val="200"/>
              </a:spcAft>
            </a:pPr>
            <a:r>
              <a:rPr sz="1000" b="1">
                <a:solidFill>
                  <a:srgbClr val="172033"/>
                </a:solidFill>
              </a:rPr>
              <a:t>Output: </a:t>
            </a:r>
            <a:r>
              <a:rPr sz="1000">
                <a:solidFill>
                  <a:srgbClr val="172033"/>
                </a:solidFill>
              </a:rPr>
              <a:t>Risk Score, Freshness Status, Alert</a:t>
            </a:r>
          </a:p>
        </p:txBody>
      </p:sp>
      <p:sp>
        <p:nvSpPr>
          <p:cNvPr id="243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4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5" name="Execution Poi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Execution Point</a:t>
            </a:r>
          </a:p>
        </p:txBody>
      </p:sp>
      <p:sp>
        <p:nvSpPr>
          <p:cNvPr id="246" name="API endpoint, serverless function, container, notebook, or scheduled job."/>
          <p:cNvSpPr txBox="1"/>
          <p:nvPr/>
        </p:nvSpPr>
        <p:spPr>
          <a:xfrm>
            <a:off x="9982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Python FastAPI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Cloud Run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Secure REST Endpoint</a:t>
            </a:r>
          </a:p>
        </p:txBody>
      </p:sp>
      <p:sp>
        <p:nvSpPr>
          <p:cNvPr id="247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48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49" name="Product Value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Product Value</a:t>
            </a:r>
          </a:p>
        </p:txBody>
      </p:sp>
      <p:sp>
        <p:nvSpPr>
          <p:cNvPr id="250" name="How does this module improve user experience or decision-making?"/>
          <p:cNvSpPr txBox="1"/>
          <p:nvPr/>
        </p:nvSpPr>
        <p:spPr>
          <a:xfrm>
            <a:off x="64084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Detect spoilage early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Reduce food waste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Improve consumer safety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Faster recall decisions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7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58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60" name="CO1 AT3 | 08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08</a:t>
            </a:r>
          </a:p>
        </p:txBody>
      </p:sp>
      <p:sp>
        <p:nvSpPr>
          <p:cNvPr id="261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Security, Scalability, Privacy and Cost Design</a:t>
            </a:r>
          </a:p>
        </p:txBody>
      </p:sp>
      <p:sp>
        <p:nvSpPr>
          <p:cNvPr id="262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Security, scale, privacy and cost shape the final design</a:t>
            </a:r>
          </a:p>
        </p:txBody>
      </p:sp>
      <p:sp>
        <p:nvSpPr>
          <p:cNvPr id="263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64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5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6" name="Security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Security</a:t>
            </a:r>
          </a:p>
        </p:txBody>
      </p:sp>
      <p:sp>
        <p:nvSpPr>
          <p:cNvPr id="267" name="Authentication, roles, validation, audit trail.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Firebase Authentication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Role-Based Access Control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HTTPS Communication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Audit Logging</a:t>
            </a:r>
          </a:p>
        </p:txBody>
      </p:sp>
      <p:sp>
        <p:nvSpPr>
          <p:cNvPr id="268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69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0" name="Privacy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Privacy</a:t>
            </a:r>
          </a:p>
        </p:txBody>
      </p:sp>
      <p:sp>
        <p:nvSpPr>
          <p:cNvPr id="271" name="Sensitive data, consent, anonymization, access limits.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Encrypted Cloud Storage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Authorized User Access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Secure Batch Data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Limited Data Visibility</a:t>
            </a:r>
          </a:p>
        </p:txBody>
      </p:sp>
      <p:sp>
        <p:nvSpPr>
          <p:cNvPr id="272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3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4" name="Scalability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Scalability</a:t>
            </a:r>
          </a:p>
        </p:txBody>
      </p:sp>
      <p:sp>
        <p:nvSpPr>
          <p:cNvPr id="275" name="How will users grow without redesign?"/>
          <p:cNvSpPr txBox="1"/>
          <p:nvPr/>
        </p:nvSpPr>
        <p:spPr>
          <a:xfrm>
            <a:off x="9982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Cloud Run Auto Scaling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Scalable PostgreSQL &amp; Storage</a:t>
            </a:r>
          </a:p>
        </p:txBody>
      </p:sp>
      <p:sp>
        <p:nvSpPr>
          <p:cNvPr id="276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77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8" name="Cost Awareness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Cost Awareness</a:t>
            </a:r>
          </a:p>
        </p:txBody>
      </p:sp>
      <p:sp>
        <p:nvSpPr>
          <p:cNvPr id="279" name="Free tier, managed services, storage/API usage limits."/>
          <p:cNvSpPr txBox="1"/>
          <p:nvPr/>
        </p:nvSpPr>
        <p:spPr>
          <a:xfrm>
            <a:off x="64084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Firebase Free Tier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Pay-as-you-go Cloud Run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Low-Cost Object Storage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Efficient API Usage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28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289" name="CO1 AT3 | 09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09</a:t>
            </a:r>
          </a:p>
        </p:txBody>
      </p:sp>
      <p:sp>
        <p:nvSpPr>
          <p:cNvPr id="29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Implementation Stack and Deployment Evidence</a:t>
            </a:r>
          </a:p>
        </p:txBody>
      </p:sp>
      <p:sp>
        <p:nvSpPr>
          <p:cNvPr id="29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implementation stack shows how the design will be built</a:t>
            </a:r>
          </a:p>
        </p:txBody>
      </p:sp>
      <p:sp>
        <p:nvSpPr>
          <p:cNvPr id="29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293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4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5" name="Mobile / Web Layer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Mobile / Web Layer</a:t>
            </a:r>
          </a:p>
        </p:txBody>
      </p:sp>
      <p:sp>
        <p:nvSpPr>
          <p:cNvPr id="296" name="Android, iOS, Flutter, React, or web frontend.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React.js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Flutter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Responsive Web Interface</a:t>
            </a:r>
          </a:p>
        </p:txBody>
      </p:sp>
      <p:sp>
        <p:nvSpPr>
          <p:cNvPr id="297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298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9" name="Cloud Service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Cloud Services</a:t>
            </a:r>
          </a:p>
        </p:txBody>
      </p:sp>
      <p:sp>
        <p:nvSpPr>
          <p:cNvPr id="300" name="Compute, database, storage, authentication, analytics, API tools.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Cloud Run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Firebase Authentication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PostgreSQL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Cloud Storage</a:t>
            </a:r>
          </a:p>
        </p:txBody>
      </p:sp>
      <p:sp>
        <p:nvSpPr>
          <p:cNvPr id="301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2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3" name="Evidence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Evidence</a:t>
            </a:r>
          </a:p>
        </p:txBody>
      </p:sp>
      <p:sp>
        <p:nvSpPr>
          <p:cNvPr id="304" name="GitHub, API test, cloud dashboard, endpoint, logs, or deployment URL."/>
          <p:cNvSpPr txBox="1"/>
          <p:nvPr/>
        </p:nvSpPr>
        <p:spPr>
          <a:xfrm>
            <a:off x="9982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GitHub repository, API testing, QR scan demo, dashboard, deployment URL, and cloud logs.</a:t>
            </a:r>
          </a:p>
        </p:txBody>
      </p:sp>
      <p:sp>
        <p:nvSpPr>
          <p:cNvPr id="305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06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7" name="Version Control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Version Control</a:t>
            </a:r>
          </a:p>
        </p:txBody>
      </p:sp>
      <p:sp>
        <p:nvSpPr>
          <p:cNvPr id="308" name="Repository structure, commits, branches, and README clarity."/>
          <p:cNvSpPr txBox="1"/>
          <p:nvPr/>
        </p:nvSpPr>
        <p:spPr>
          <a:xfrm>
            <a:off x="64084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Git Repository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Feature Branches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Commit History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Project README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5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16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18" name="CO1 AT3 | 10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10</a:t>
            </a:r>
          </a:p>
        </p:txBody>
      </p:sp>
      <p:sp>
        <p:nvSpPr>
          <p:cNvPr id="319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Demo Storyboard and User Journey</a:t>
            </a:r>
          </a:p>
        </p:txBody>
      </p:sp>
      <p:sp>
        <p:nvSpPr>
          <p:cNvPr id="320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A complete user journey proves the product flow</a:t>
            </a:r>
          </a:p>
        </p:txBody>
      </p:sp>
      <p:sp>
        <p:nvSpPr>
          <p:cNvPr id="321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22" name="scene-0"/>
          <p:cNvSpPr/>
          <p:nvPr/>
        </p:nvSpPr>
        <p:spPr>
          <a:xfrm>
            <a:off x="7239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3" name="Scene 1"/>
          <p:cNvSpPr txBox="1"/>
          <p:nvPr/>
        </p:nvSpPr>
        <p:spPr>
          <a:xfrm>
            <a:off x="9410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1</a:t>
            </a:r>
          </a:p>
        </p:txBody>
      </p:sp>
      <p:sp>
        <p:nvSpPr>
          <p:cNvPr id="324" name="User action -&gt; system response -&gt; cloud component touched"/>
          <p:cNvSpPr txBox="1"/>
          <p:nvPr/>
        </p:nvSpPr>
        <p:spPr>
          <a:xfrm>
            <a:off x="941069" y="209550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Register Food Batch → Generate QR</a:t>
            </a:r>
          </a:p>
        </p:txBody>
      </p:sp>
      <p:sp>
        <p:nvSpPr>
          <p:cNvPr id="325" name="scene-1"/>
          <p:cNvSpPr/>
          <p:nvPr/>
        </p:nvSpPr>
        <p:spPr>
          <a:xfrm>
            <a:off x="436245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6" name="Scene 2"/>
          <p:cNvSpPr txBox="1"/>
          <p:nvPr/>
        </p:nvSpPr>
        <p:spPr>
          <a:xfrm>
            <a:off x="457961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2</a:t>
            </a:r>
          </a:p>
        </p:txBody>
      </p:sp>
      <p:sp>
        <p:nvSpPr>
          <p:cNvPr id="327" name="User action -&gt; system response -&gt; cloud component touched"/>
          <p:cNvSpPr txBox="1"/>
          <p:nvPr/>
        </p:nvSpPr>
        <p:spPr>
          <a:xfrm>
            <a:off x="4579619" y="209550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Warehouse Scan → Location Updated</a:t>
            </a:r>
          </a:p>
        </p:txBody>
      </p:sp>
      <p:sp>
        <p:nvSpPr>
          <p:cNvPr id="328" name="scene-2"/>
          <p:cNvSpPr/>
          <p:nvPr/>
        </p:nvSpPr>
        <p:spPr>
          <a:xfrm>
            <a:off x="8001000" y="158115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29" name="Scene 3"/>
          <p:cNvSpPr txBox="1"/>
          <p:nvPr/>
        </p:nvSpPr>
        <p:spPr>
          <a:xfrm>
            <a:off x="8218169" y="173355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3</a:t>
            </a:r>
          </a:p>
        </p:txBody>
      </p:sp>
      <p:sp>
        <p:nvSpPr>
          <p:cNvPr id="330" name="User action -&gt; system response -&gt; cloud component touched"/>
          <p:cNvSpPr txBox="1"/>
          <p:nvPr/>
        </p:nvSpPr>
        <p:spPr>
          <a:xfrm>
            <a:off x="8218169" y="209550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Upload Storage Conditions → Database Updated</a:t>
            </a:r>
          </a:p>
        </p:txBody>
      </p:sp>
      <p:sp>
        <p:nvSpPr>
          <p:cNvPr id="331" name="scene-3"/>
          <p:cNvSpPr/>
          <p:nvPr/>
        </p:nvSpPr>
        <p:spPr>
          <a:xfrm>
            <a:off x="7239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2" name="Scene 4"/>
          <p:cNvSpPr txBox="1"/>
          <p:nvPr/>
        </p:nvSpPr>
        <p:spPr>
          <a:xfrm>
            <a:off x="9410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4</a:t>
            </a:r>
          </a:p>
        </p:txBody>
      </p:sp>
      <p:sp>
        <p:nvSpPr>
          <p:cNvPr id="333" name="User action -&gt; system response -&gt; cloud component touched"/>
          <p:cNvSpPr txBox="1"/>
          <p:nvPr/>
        </p:nvSpPr>
        <p:spPr>
          <a:xfrm>
            <a:off x="941069" y="382905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Run Risk Prediction → Risk Score Generated</a:t>
            </a:r>
          </a:p>
        </p:txBody>
      </p:sp>
      <p:sp>
        <p:nvSpPr>
          <p:cNvPr id="334" name="scene-4"/>
          <p:cNvSpPr/>
          <p:nvPr/>
        </p:nvSpPr>
        <p:spPr>
          <a:xfrm>
            <a:off x="436245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5" name="Scene 5"/>
          <p:cNvSpPr txBox="1"/>
          <p:nvPr/>
        </p:nvSpPr>
        <p:spPr>
          <a:xfrm>
            <a:off x="457961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5</a:t>
            </a:r>
          </a:p>
        </p:txBody>
      </p:sp>
      <p:sp>
        <p:nvSpPr>
          <p:cNvPr id="336" name="User action -&gt; system response -&gt; cloud component touched"/>
          <p:cNvSpPr txBox="1"/>
          <p:nvPr/>
        </p:nvSpPr>
        <p:spPr>
          <a:xfrm>
            <a:off x="4579619" y="382905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Spoilage Alert → Recall Triggered</a:t>
            </a:r>
          </a:p>
        </p:txBody>
      </p:sp>
      <p:sp>
        <p:nvSpPr>
          <p:cNvPr id="337" name="scene-5"/>
          <p:cNvSpPr/>
          <p:nvPr/>
        </p:nvSpPr>
        <p:spPr>
          <a:xfrm>
            <a:off x="8001000" y="3314700"/>
            <a:ext cx="3143250" cy="12382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38" name="Scene 6"/>
          <p:cNvSpPr txBox="1"/>
          <p:nvPr/>
        </p:nvSpPr>
        <p:spPr>
          <a:xfrm>
            <a:off x="8218169" y="3467100"/>
            <a:ext cx="2575562" cy="277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500" b="1">
                <a:solidFill>
                  <a:srgbClr val="1F4E79"/>
                </a:solidFill>
              </a:defRPr>
            </a:lvl1pPr>
          </a:lstStyle>
          <a:p>
            <a:r>
              <a:t>Scene 6</a:t>
            </a:r>
          </a:p>
        </p:txBody>
      </p:sp>
      <p:sp>
        <p:nvSpPr>
          <p:cNvPr id="339" name="User action -&gt; system response -&gt; cloud component touched"/>
          <p:cNvSpPr txBox="1"/>
          <p:nvPr/>
        </p:nvSpPr>
        <p:spPr>
          <a:xfrm>
            <a:off x="8218169" y="3829050"/>
            <a:ext cx="2613662" cy="3908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r>
              <a:t>Dashboard Displays Reports → Analytics Updated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46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47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49" name="CO1 AT3 | 11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11</a:t>
            </a:r>
          </a:p>
        </p:txBody>
      </p:sp>
      <p:sp>
        <p:nvSpPr>
          <p:cNvPr id="350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Evaluation Readiness Checklist</a:t>
            </a:r>
          </a:p>
        </p:txBody>
      </p:sp>
      <p:sp>
        <p:nvSpPr>
          <p:cNvPr id="351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Our evidence confirms that the presentation is ready</a:t>
            </a:r>
          </a:p>
        </p:txBody>
      </p:sp>
      <p:sp>
        <p:nvSpPr>
          <p:cNvPr id="352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53" name="check-0"/>
          <p:cNvSpPr/>
          <p:nvPr/>
        </p:nvSpPr>
        <p:spPr>
          <a:xfrm>
            <a:off x="95250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4" name="box-0"/>
          <p:cNvSpPr/>
          <p:nvPr/>
        </p:nvSpPr>
        <p:spPr>
          <a:xfrm>
            <a:off x="114300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5" name="Cloud ecosystem and service model explained"/>
          <p:cNvSpPr txBox="1"/>
          <p:nvPr/>
        </p:nvSpPr>
        <p:spPr>
          <a:xfrm>
            <a:off x="162686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Cloud ecosystem and service model explained</a:t>
            </a:r>
          </a:p>
        </p:txBody>
      </p:sp>
      <p:sp>
        <p:nvSpPr>
          <p:cNvPr id="356" name="check-1"/>
          <p:cNvSpPr/>
          <p:nvPr/>
        </p:nvSpPr>
        <p:spPr>
          <a:xfrm>
            <a:off x="95250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7" name="box-1"/>
          <p:cNvSpPr/>
          <p:nvPr/>
        </p:nvSpPr>
        <p:spPr>
          <a:xfrm>
            <a:off x="114300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58" name="REST/SOAP/API role connected to capstone"/>
          <p:cNvSpPr txBox="1"/>
          <p:nvPr/>
        </p:nvSpPr>
        <p:spPr>
          <a:xfrm>
            <a:off x="162686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REST/SOAP/API role connected to capstone</a:t>
            </a:r>
          </a:p>
        </p:txBody>
      </p:sp>
      <p:sp>
        <p:nvSpPr>
          <p:cNvPr id="359" name="check-2"/>
          <p:cNvSpPr/>
          <p:nvPr/>
        </p:nvSpPr>
        <p:spPr>
          <a:xfrm>
            <a:off x="95250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0" name="box-2"/>
          <p:cNvSpPr/>
          <p:nvPr/>
        </p:nvSpPr>
        <p:spPr>
          <a:xfrm>
            <a:off x="114300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1" name="Architecture has compute, data, storage, security, monitoring"/>
          <p:cNvSpPr txBox="1"/>
          <p:nvPr/>
        </p:nvSpPr>
        <p:spPr>
          <a:xfrm>
            <a:off x="1626869" y="3924300"/>
            <a:ext cx="3718562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Architecture has compute, data, storage, security, monitoring</a:t>
            </a:r>
          </a:p>
        </p:txBody>
      </p:sp>
      <p:sp>
        <p:nvSpPr>
          <p:cNvPr id="362" name="check-3"/>
          <p:cNvSpPr/>
          <p:nvPr/>
        </p:nvSpPr>
        <p:spPr>
          <a:xfrm>
            <a:off x="6572250" y="16192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3" name="box-3"/>
          <p:cNvSpPr/>
          <p:nvPr/>
        </p:nvSpPr>
        <p:spPr>
          <a:xfrm>
            <a:off x="6762750" y="18478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4" name="Elasticity and scalability decisions are visible"/>
          <p:cNvSpPr txBox="1"/>
          <p:nvPr/>
        </p:nvSpPr>
        <p:spPr>
          <a:xfrm>
            <a:off x="7246619" y="17907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Elasticity and scalability decisions are visible</a:t>
            </a:r>
          </a:p>
        </p:txBody>
      </p:sp>
      <p:sp>
        <p:nvSpPr>
          <p:cNvPr id="365" name="check-4"/>
          <p:cNvSpPr/>
          <p:nvPr/>
        </p:nvSpPr>
        <p:spPr>
          <a:xfrm>
            <a:off x="6572250" y="26860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EEF2F6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6" name="box-4"/>
          <p:cNvSpPr/>
          <p:nvPr/>
        </p:nvSpPr>
        <p:spPr>
          <a:xfrm>
            <a:off x="6762750" y="29146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7" name="GitHub and cloud evidence are inspectable"/>
          <p:cNvSpPr txBox="1"/>
          <p:nvPr/>
        </p:nvSpPr>
        <p:spPr>
          <a:xfrm>
            <a:off x="7246619" y="28575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GitHub and cloud evidence are inspectable</a:t>
            </a:r>
          </a:p>
        </p:txBody>
      </p:sp>
      <p:sp>
        <p:nvSpPr>
          <p:cNvPr id="368" name="check-5"/>
          <p:cNvSpPr/>
          <p:nvPr/>
        </p:nvSpPr>
        <p:spPr>
          <a:xfrm>
            <a:off x="6572250" y="3752850"/>
            <a:ext cx="4762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>
            <a:solidFill>
              <a:srgbClr val="B7C9D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69" name="box-5"/>
          <p:cNvSpPr/>
          <p:nvPr/>
        </p:nvSpPr>
        <p:spPr>
          <a:xfrm>
            <a:off x="6762750" y="3981450"/>
            <a:ext cx="28575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0" name="References and integrity statement are included"/>
          <p:cNvSpPr txBox="1"/>
          <p:nvPr/>
        </p:nvSpPr>
        <p:spPr>
          <a:xfrm>
            <a:off x="7246619" y="3924300"/>
            <a:ext cx="37185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 b="1">
                <a:solidFill>
                  <a:srgbClr val="172033"/>
                </a:solidFill>
              </a:defRPr>
            </a:lvl1pPr>
          </a:lstStyle>
          <a:p>
            <a:r>
              <a:t>References and integrity statement are included</a:t>
            </a:r>
          </a:p>
        </p:txBody>
      </p:sp>
      <p:sp>
        <p:nvSpPr>
          <p:cNvPr id="371" name="Evaluator Focus-panel"/>
          <p:cNvSpPr/>
          <p:nvPr/>
        </p:nvSpPr>
        <p:spPr>
          <a:xfrm>
            <a:off x="2095500" y="4953000"/>
            <a:ext cx="8001000" cy="895350"/>
          </a:xfrm>
          <a:prstGeom prst="roundRect">
            <a:avLst>
              <a:gd name="adj" fmla="val 10811"/>
            </a:avLst>
          </a:prstGeom>
          <a:solidFill>
            <a:srgbClr val="E8F1F8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72" name="Evaluator Focus-bar"/>
          <p:cNvSpPr/>
          <p:nvPr/>
        </p:nvSpPr>
        <p:spPr>
          <a:xfrm>
            <a:off x="2095500" y="4953000"/>
            <a:ext cx="8001000" cy="762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73" name="Evaluator Focus"/>
          <p:cNvSpPr txBox="1"/>
          <p:nvPr/>
        </p:nvSpPr>
        <p:spPr>
          <a:xfrm>
            <a:off x="2312669" y="5143500"/>
            <a:ext cx="75666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Evaluator Focus</a:t>
            </a:r>
          </a:p>
        </p:txBody>
      </p:sp>
      <p:sp>
        <p:nvSpPr>
          <p:cNvPr id="374" name="CO1 is verified through cloud design reasoning, service choices, evidence, and individual explanation."/>
          <p:cNvSpPr txBox="1"/>
          <p:nvPr/>
        </p:nvSpPr>
        <p:spPr>
          <a:xfrm>
            <a:off x="2312669" y="5524500"/>
            <a:ext cx="75666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172033"/>
                </a:solidFill>
              </a:defRPr>
            </a:lvl1pPr>
          </a:lstStyle>
          <a:p>
            <a:r>
              <a:t>CO1 is verified through cloud design reasoning, service choices, evidence, and individual explanation.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op-rule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81" name="accent-rule"/>
          <p:cNvSpPr/>
          <p:nvPr/>
        </p:nvSpPr>
        <p:spPr>
          <a:xfrm>
            <a:off x="0" y="76200"/>
            <a:ext cx="12192000" cy="381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pic>
        <p:nvPicPr>
          <p:cNvPr id="382" name="imag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55890"/>
            <a:ext cx="2095500" cy="269271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CSA15 | Cloud Computing and Big Data Analytics"/>
          <p:cNvSpPr txBox="1"/>
          <p:nvPr/>
        </p:nvSpPr>
        <p:spPr>
          <a:xfrm>
            <a:off x="7856219" y="228600"/>
            <a:ext cx="333756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334155"/>
                </a:solidFill>
              </a:defRPr>
            </a:lvl1pPr>
          </a:lstStyle>
          <a:p>
            <a:r>
              <a:t>CSA15 | Cloud Computing and Big Data Analytics</a:t>
            </a:r>
          </a:p>
        </p:txBody>
      </p:sp>
      <p:sp>
        <p:nvSpPr>
          <p:cNvPr id="384" name="CO1 AT3 | 12"/>
          <p:cNvSpPr txBox="1"/>
          <p:nvPr/>
        </p:nvSpPr>
        <p:spPr>
          <a:xfrm>
            <a:off x="10618469" y="6381750"/>
            <a:ext cx="918212" cy="2059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sz="900" b="1">
                <a:solidFill>
                  <a:srgbClr val="64748B"/>
                </a:solidFill>
              </a:defRPr>
            </a:lvl1pPr>
          </a:lstStyle>
          <a:p>
            <a:r>
              <a:t>CO1 AT3 | 12</a:t>
            </a:r>
          </a:p>
        </p:txBody>
      </p:sp>
      <p:sp>
        <p:nvSpPr>
          <p:cNvPr id="385" name="slide-title"/>
          <p:cNvSpPr txBox="1"/>
          <p:nvPr/>
        </p:nvSpPr>
        <p:spPr>
          <a:xfrm>
            <a:off x="655319" y="723900"/>
            <a:ext cx="10881362" cy="4150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500" b="1">
                <a:solidFill>
                  <a:srgbClr val="1F4E79"/>
                </a:solidFill>
              </a:defRPr>
            </a:lvl1pPr>
          </a:lstStyle>
          <a:p>
            <a:r>
              <a:t>Conclusion, Limitations and Future Scope</a:t>
            </a:r>
          </a:p>
        </p:txBody>
      </p:sp>
      <p:sp>
        <p:nvSpPr>
          <p:cNvPr id="386" name="slide-subtitle"/>
          <p:cNvSpPr txBox="1"/>
          <p:nvPr/>
        </p:nvSpPr>
        <p:spPr>
          <a:xfrm>
            <a:off x="655319" y="1162050"/>
            <a:ext cx="10881362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334155"/>
                </a:solidFill>
              </a:defRPr>
            </a:lvl1pPr>
          </a:lstStyle>
          <a:p>
            <a:r>
              <a:t>We close with learning, limitations and next steps</a:t>
            </a:r>
          </a:p>
        </p:txBody>
      </p:sp>
      <p:sp>
        <p:nvSpPr>
          <p:cNvPr id="387" name="Individual student submission template | Department of Computer Science and Engineering"/>
          <p:cNvSpPr txBox="1"/>
          <p:nvPr/>
        </p:nvSpPr>
        <p:spPr>
          <a:xfrm>
            <a:off x="655319" y="6381750"/>
            <a:ext cx="7719062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800">
                <a:solidFill>
                  <a:srgbClr val="64748B"/>
                </a:solidFill>
              </a:defRPr>
            </a:lvl1pPr>
          </a:lstStyle>
          <a:p>
            <a:r>
              <a:t>Individual student submission template | Department of Computer Science and Engineering</a:t>
            </a:r>
          </a:p>
        </p:txBody>
      </p:sp>
      <p:sp>
        <p:nvSpPr>
          <p:cNvPr id="388" name="section-0"/>
          <p:cNvSpPr/>
          <p:nvPr/>
        </p:nvSpPr>
        <p:spPr>
          <a:xfrm>
            <a:off x="7239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89" name="section-accent-0"/>
          <p:cNvSpPr/>
          <p:nvPr/>
        </p:nvSpPr>
        <p:spPr>
          <a:xfrm>
            <a:off x="723900" y="1600200"/>
            <a:ext cx="57150" cy="12573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0" name="Learning Outcome"/>
          <p:cNvSpPr txBox="1"/>
          <p:nvPr/>
        </p:nvSpPr>
        <p:spPr>
          <a:xfrm>
            <a:off x="9982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Learning Outcome</a:t>
            </a:r>
          </a:p>
        </p:txBody>
      </p:sp>
      <p:sp>
        <p:nvSpPr>
          <p:cNvPr id="391" name="What cloud concepts did the project make clear?"/>
          <p:cNvSpPr txBox="1"/>
          <p:nvPr/>
        </p:nvSpPr>
        <p:spPr>
          <a:xfrm>
            <a:off x="9982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Learned cloud architecture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Built QR traceability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Applied cloud analytics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Implemented REST APIs</a:t>
            </a:r>
          </a:p>
        </p:txBody>
      </p:sp>
      <p:sp>
        <p:nvSpPr>
          <p:cNvPr id="392" name="section-1"/>
          <p:cNvSpPr/>
          <p:nvPr/>
        </p:nvSpPr>
        <p:spPr>
          <a:xfrm>
            <a:off x="6134100" y="16002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3" name="section-accent-1"/>
          <p:cNvSpPr/>
          <p:nvPr/>
        </p:nvSpPr>
        <p:spPr>
          <a:xfrm>
            <a:off x="6134100" y="1600200"/>
            <a:ext cx="57150" cy="1257300"/>
          </a:xfrm>
          <a:prstGeom prst="rect">
            <a:avLst/>
          </a:prstGeom>
          <a:solidFill>
            <a:srgbClr val="2F6690"/>
          </a:solidFill>
          <a:ln>
            <a:solidFill>
              <a:srgbClr val="2F6690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4" name="Limitations"/>
          <p:cNvSpPr txBox="1"/>
          <p:nvPr/>
        </p:nvSpPr>
        <p:spPr>
          <a:xfrm>
            <a:off x="6408419" y="17907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Limitations</a:t>
            </a:r>
          </a:p>
        </p:txBody>
      </p:sp>
      <p:sp>
        <p:nvSpPr>
          <p:cNvPr id="395" name="What remains incomplete or needs improvement?"/>
          <p:cNvSpPr txBox="1"/>
          <p:nvPr/>
        </p:nvSpPr>
        <p:spPr>
          <a:xfrm>
            <a:off x="6408419" y="21907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Limited IoT sensor integration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Internet connectivity required</a:t>
            </a:r>
          </a:p>
          <a:p>
            <a:pPr marL="171450" indent="-171450">
              <a:buFont typeface="Arial"/>
              <a:buChar char="•"/>
            </a:pPr>
            <a:r>
              <a:rPr sz="1000">
                <a:solidFill>
                  <a:srgbClr val="172033"/>
                </a:solidFill>
              </a:rPr>
              <a:t>Rule-based prediction only</a:t>
            </a:r>
          </a:p>
        </p:txBody>
      </p:sp>
      <p:sp>
        <p:nvSpPr>
          <p:cNvPr id="396" name="section-2"/>
          <p:cNvSpPr/>
          <p:nvPr/>
        </p:nvSpPr>
        <p:spPr>
          <a:xfrm>
            <a:off x="7239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6F8FB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397" name="section-accent-2"/>
          <p:cNvSpPr/>
          <p:nvPr/>
        </p:nvSpPr>
        <p:spPr>
          <a:xfrm>
            <a:off x="723900" y="3238500"/>
            <a:ext cx="57150" cy="1257300"/>
          </a:xfrm>
          <a:prstGeom prst="rect">
            <a:avLst/>
          </a:prstGeom>
          <a:solidFill>
            <a:srgbClr val="466A8F"/>
          </a:solidFill>
          <a:ln>
            <a:solidFill>
              <a:srgbClr val="466A8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98" name="Future Improvement"/>
          <p:cNvSpPr txBox="1"/>
          <p:nvPr/>
        </p:nvSpPr>
        <p:spPr>
          <a:xfrm>
            <a:off x="9982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Future Improvement</a:t>
            </a:r>
          </a:p>
        </p:txBody>
      </p:sp>
      <p:sp>
        <p:nvSpPr>
          <p:cNvPr id="399" name="What will be improved before final capstone review?"/>
          <p:cNvSpPr txBox="1"/>
          <p:nvPr/>
        </p:nvSpPr>
        <p:spPr>
          <a:xfrm>
            <a:off x="998219" y="3829050"/>
            <a:ext cx="4099562" cy="2483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IoT Sensors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AI-Based Prediction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Blockchain Traceability</a:t>
            </a:r>
          </a:p>
          <a:p>
            <a:pPr marL="171450" indent="-171450">
              <a:buFont typeface="Arial"/>
              <a:buChar char="•"/>
            </a:pPr>
            <a:r>
              <a:rPr sz="900">
                <a:solidFill>
                  <a:srgbClr val="172033"/>
                </a:solidFill>
              </a:rPr>
              <a:t>Mobile Notifications</a:t>
            </a:r>
          </a:p>
        </p:txBody>
      </p:sp>
      <p:sp>
        <p:nvSpPr>
          <p:cNvPr id="400" name="section-3"/>
          <p:cNvSpPr/>
          <p:nvPr/>
        </p:nvSpPr>
        <p:spPr>
          <a:xfrm>
            <a:off x="6134100" y="3238500"/>
            <a:ext cx="4762500" cy="12573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>
            <a:solidFill>
              <a:srgbClr val="B7C9D9"/>
            </a:solidFill>
          </a:ln>
          <a:effectLst>
            <a:outerShdw blurRad="25400" dist="9525" dir="5400000" rotWithShape="0">
              <a:srgbClr val="000000">
                <a:alpha val="6000"/>
              </a:srgbClr>
            </a:outerShdw>
          </a:effectLst>
        </p:spPr>
        <p:txBody>
          <a:bodyPr lIns="0" tIns="0" rIns="0" bIns="0"/>
          <a:lstStyle/>
          <a:p>
            <a:endParaRPr/>
          </a:p>
        </p:txBody>
      </p:sp>
      <p:sp>
        <p:nvSpPr>
          <p:cNvPr id="401" name="section-accent-3"/>
          <p:cNvSpPr/>
          <p:nvPr/>
        </p:nvSpPr>
        <p:spPr>
          <a:xfrm>
            <a:off x="6134100" y="3238500"/>
            <a:ext cx="57150" cy="1257300"/>
          </a:xfrm>
          <a:prstGeom prst="rect">
            <a:avLst/>
          </a:prstGeom>
          <a:solidFill>
            <a:srgbClr val="7C95AD"/>
          </a:solidFill>
          <a:ln>
            <a:solidFill>
              <a:srgbClr val="7C95AD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402" name="Integrity Statement"/>
          <p:cNvSpPr txBox="1"/>
          <p:nvPr/>
        </p:nvSpPr>
        <p:spPr>
          <a:xfrm>
            <a:off x="6408419" y="3429000"/>
            <a:ext cx="4099562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1F4E79"/>
                </a:solidFill>
              </a:defRPr>
            </a:lvl1pPr>
          </a:lstStyle>
          <a:p>
            <a:r>
              <a:t>Integrity Statement</a:t>
            </a:r>
          </a:p>
        </p:txBody>
      </p:sp>
      <p:sp>
        <p:nvSpPr>
          <p:cNvPr id="403" name="Mention sources, tools, datasets, and any AI assistance acknowledged."/>
          <p:cNvSpPr txBox="1"/>
          <p:nvPr/>
        </p:nvSpPr>
        <p:spPr>
          <a:xfrm>
            <a:off x="6408419" y="3829050"/>
            <a:ext cx="4099562" cy="4388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200">
                <a:solidFill>
                  <a:srgbClr val="172033"/>
                </a:solidFill>
              </a:defRPr>
            </a:lvl1pPr>
          </a:lstStyle>
          <a:p>
            <a:r>
              <a:t>Developed for academic purposes using Google Cloud, Firebase, PostgreSQL, Python FastAPI, React.js, Flutter, and QR libraries. Public documentation and AI-assisted tools were used only for research and presentation preparation.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000FF"/>
      </a:hlink>
      <a:folHlink>
        <a:srgbClr val="FF00FF"/>
      </a:folHlink>
    </a:clrScheme>
    <a:fontScheme name="ChatGPT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905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1386</Words>
  <Application>Microsoft Office PowerPoint</Application>
  <PresentationFormat>Widescreen</PresentationFormat>
  <Paragraphs>259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Krishna Gupta</cp:lastModifiedBy>
  <cp:revision>6</cp:revision>
  <dcterms:modified xsi:type="dcterms:W3CDTF">2026-07-21T15:21:50Z</dcterms:modified>
</cp:coreProperties>
</file>